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113" d="100"/>
          <a:sy n="113" d="100"/>
        </p:scale>
        <p:origin x="426" y="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BB83718F-4A4C-4B33-96F0-D1E301A61607}" type="datetimeFigureOut">
              <a:rPr lang="es-MX" smtClean="0"/>
              <a:t>07/11/2025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7ADD9769-D3DA-4E7F-8923-B81B8A8516C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669423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3718F-4A4C-4B33-96F0-D1E301A61607}" type="datetimeFigureOut">
              <a:rPr lang="es-MX" smtClean="0"/>
              <a:t>07/11/2025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D9769-D3DA-4E7F-8923-B81B8A8516C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482080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3718F-4A4C-4B33-96F0-D1E301A61607}" type="datetimeFigureOut">
              <a:rPr lang="es-MX" smtClean="0"/>
              <a:t>07/11/2025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D9769-D3DA-4E7F-8923-B81B8A8516C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950314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3718F-4A4C-4B33-96F0-D1E301A61607}" type="datetimeFigureOut">
              <a:rPr lang="es-MX" smtClean="0"/>
              <a:t>07/11/2025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D9769-D3DA-4E7F-8923-B81B8A8516C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511599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3718F-4A4C-4B33-96F0-D1E301A61607}" type="datetimeFigureOut">
              <a:rPr lang="es-MX" smtClean="0"/>
              <a:t>07/11/2025</a:t>
            </a:fld>
            <a:endParaRPr lang="es-MX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D9769-D3DA-4E7F-8923-B81B8A8516C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181892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3718F-4A4C-4B33-96F0-D1E301A61607}" type="datetimeFigureOut">
              <a:rPr lang="es-MX" smtClean="0"/>
              <a:t>07/11/2025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D9769-D3DA-4E7F-8923-B81B8A8516C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706856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3718F-4A4C-4B33-96F0-D1E301A61607}" type="datetimeFigureOut">
              <a:rPr lang="es-MX" smtClean="0"/>
              <a:t>07/11/2025</a:t>
            </a:fld>
            <a:endParaRPr lang="es-MX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D9769-D3DA-4E7F-8923-B81B8A8516C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644566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3718F-4A4C-4B33-96F0-D1E301A61607}" type="datetimeFigureOut">
              <a:rPr lang="es-MX" smtClean="0"/>
              <a:t>07/11/2025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D9769-D3DA-4E7F-8923-B81B8A8516C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109656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3718F-4A4C-4B33-96F0-D1E301A61607}" type="datetimeFigureOut">
              <a:rPr lang="es-MX" smtClean="0"/>
              <a:t>07/11/2025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D9769-D3DA-4E7F-8923-B81B8A8516C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038704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3718F-4A4C-4B33-96F0-D1E301A61607}" type="datetimeFigureOut">
              <a:rPr lang="es-MX" smtClean="0"/>
              <a:t>07/11/2025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D9769-D3DA-4E7F-8923-B81B8A8516C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003664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3718F-4A4C-4B33-96F0-D1E301A61607}" type="datetimeFigureOut">
              <a:rPr lang="es-MX" smtClean="0"/>
              <a:t>07/11/2025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D9769-D3DA-4E7F-8923-B81B8A8516C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900217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3718F-4A4C-4B33-96F0-D1E301A61607}" type="datetimeFigureOut">
              <a:rPr lang="es-MX" smtClean="0"/>
              <a:t>07/11/2025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D9769-D3DA-4E7F-8923-B81B8A8516C5}" type="slidenum">
              <a:rPr lang="es-MX" smtClean="0"/>
              <a:t>‹Nº›</a:t>
            </a:fld>
            <a:endParaRPr lang="es-MX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00004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3718F-4A4C-4B33-96F0-D1E301A61607}" type="datetimeFigureOut">
              <a:rPr lang="es-MX" smtClean="0"/>
              <a:t>07/11/2025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D9769-D3DA-4E7F-8923-B81B8A8516C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694925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3718F-4A4C-4B33-96F0-D1E301A61607}" type="datetimeFigureOut">
              <a:rPr lang="es-MX" smtClean="0"/>
              <a:t>07/11/2025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D9769-D3DA-4E7F-8923-B81B8A8516C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1177052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3718F-4A4C-4B33-96F0-D1E301A61607}" type="datetimeFigureOut">
              <a:rPr lang="es-MX" smtClean="0"/>
              <a:t>07/11/2025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D9769-D3DA-4E7F-8923-B81B8A8516C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8970606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3718F-4A4C-4B33-96F0-D1E301A61607}" type="datetimeFigureOut">
              <a:rPr lang="es-MX" smtClean="0"/>
              <a:t>07/11/2025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D9769-D3DA-4E7F-8923-B81B8A8516C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2857103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3718F-4A4C-4B33-96F0-D1E301A61607}" type="datetimeFigureOut">
              <a:rPr lang="es-MX" smtClean="0"/>
              <a:t>07/11/2025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D9769-D3DA-4E7F-8923-B81B8A8516C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41189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83718F-4A4C-4B33-96F0-D1E301A61607}" type="datetimeFigureOut">
              <a:rPr lang="es-MX" smtClean="0"/>
              <a:t>07/11/2025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DD9769-D3DA-4E7F-8923-B81B8A8516C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3559462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0B5472-58AD-47BD-B850-3953CE4E59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864699"/>
          </a:xfrm>
        </p:spPr>
        <p:txBody>
          <a:bodyPr>
            <a:normAutofit fontScale="90000"/>
          </a:bodyPr>
          <a:lstStyle/>
          <a:p>
            <a:pPr algn="ctr"/>
            <a:r>
              <a:rPr lang="es-ES" dirty="0"/>
              <a:t>Conceptos de Arquitectura y Diseño de Software</a:t>
            </a:r>
            <a:endParaRPr lang="es-MX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BDDDE30-671F-4BFF-8DCB-FE0EE12FE5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268901"/>
          </a:xfrm>
        </p:spPr>
        <p:txBody>
          <a:bodyPr>
            <a:normAutofit/>
          </a:bodyPr>
          <a:lstStyle/>
          <a:p>
            <a:r>
              <a:rPr lang="es-ES" dirty="0">
                <a:solidFill>
                  <a:schemeClr val="tx1"/>
                </a:solidFill>
              </a:rPr>
              <a:t>Instructor</a:t>
            </a:r>
          </a:p>
          <a:p>
            <a:r>
              <a:rPr lang="es-ES" dirty="0">
                <a:solidFill>
                  <a:schemeClr val="tx1"/>
                </a:solidFill>
              </a:rPr>
              <a:t>I.S.C.  oscar Eduardo Sánchez González</a:t>
            </a:r>
          </a:p>
          <a:p>
            <a:endParaRPr lang="es-MX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D931004-3A2D-4BF0-93EC-4C01E41497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1800" y="-5736"/>
            <a:ext cx="1800200" cy="1090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51838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238987-58C5-48FB-A501-F5C4C59B5F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s-ES" dirty="0"/>
              <a:t>Modelos de Datos, Abstracción y Patrones de Diseño.</a:t>
            </a:r>
            <a:endParaRPr lang="es-MX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14A8712-AC46-4967-AF4C-C8E706C2BA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1800" y="-5736"/>
            <a:ext cx="1800200" cy="1090461"/>
          </a:xfrm>
          <a:prstGeom prst="rect">
            <a:avLst/>
          </a:prstGeom>
        </p:spPr>
      </p:pic>
      <p:pic>
        <p:nvPicPr>
          <p:cNvPr id="1026" name="Picture 2" descr="a software architecture diagram">
            <a:extLst>
              <a:ext uri="{FF2B5EF4-FFF2-40B4-BE49-F238E27FC236}">
                <a16:creationId xmlns:a16="http://schemas.microsoft.com/office/drawing/2014/main" id="{8BCA6B33-B067-F477-FBE2-86AA24C920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7867" y="2097088"/>
            <a:ext cx="6265333" cy="4166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01122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A5697C-25A5-4864-8D92-AC1D3280F2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090461"/>
          </a:xfrm>
        </p:spPr>
        <p:txBody>
          <a:bodyPr>
            <a:normAutofit fontScale="90000"/>
          </a:bodyPr>
          <a:lstStyle/>
          <a:p>
            <a:r>
              <a:rPr lang="es-ES" b="1" dirty="0"/>
              <a:t>El Corazón de los Datos: </a:t>
            </a:r>
            <a:r>
              <a:rPr lang="es-ES" b="1" dirty="0" err="1"/>
              <a:t>Model</a:t>
            </a:r>
            <a:r>
              <a:rPr lang="es-ES" b="1" dirty="0"/>
              <a:t> y </a:t>
            </a:r>
            <a:r>
              <a:rPr lang="es-ES" b="1" dirty="0" err="1"/>
              <a:t>Repository</a:t>
            </a:r>
            <a:br>
              <a:rPr lang="es-ES" b="1" dirty="0"/>
            </a:br>
            <a:r>
              <a:rPr lang="es-ES" b="1" dirty="0"/>
              <a:t>1. </a:t>
            </a:r>
            <a:r>
              <a:rPr lang="es-ES" b="1" dirty="0" err="1"/>
              <a:t>Model</a:t>
            </a:r>
            <a:r>
              <a:rPr lang="es-ES" b="1" dirty="0"/>
              <a:t> (Modelo)</a:t>
            </a:r>
            <a:br>
              <a:rPr lang="es-ES" b="1" dirty="0"/>
            </a:br>
            <a:endParaRPr lang="es-MX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4B9DBC9-370F-4AD8-ABB1-E18FD1F339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1800" y="-5736"/>
            <a:ext cx="1800200" cy="1090461"/>
          </a:xfrm>
          <a:prstGeom prst="rect">
            <a:avLst/>
          </a:prstGeo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BA7F52A6-8915-F643-B712-0DCE2B64B5C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97945" y="1890114"/>
            <a:ext cx="11075468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Concepto:</a:t>
            </a: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Representación de la </a:t>
            </a:r>
            <a:r>
              <a:rPr kumimoji="0" lang="es-MX" altLang="es-MX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estructura de los datos</a:t>
            </a: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que maneja la aplicación (objetos de negocio).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Propósito:</a:t>
            </a: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Definir los </a:t>
            </a:r>
            <a:r>
              <a:rPr kumimoji="0" lang="es-MX" altLang="es-MX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atributos</a:t>
            </a: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y las </a:t>
            </a:r>
            <a:r>
              <a:rPr kumimoji="0" lang="es-MX" altLang="es-MX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relaciones</a:t>
            </a: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una entidad del mundo real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</a:t>
            </a:r>
            <a:r>
              <a:rPr kumimoji="0" lang="es-MX" altLang="es-MX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Ej</a:t>
            </a: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s-MX" altLang="es-MX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Usuario</a:t>
            </a:r>
            <a:r>
              <a:rPr kumimoji="0" lang="es-MX" altLang="es-MX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s-MX" altLang="es-MX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Producto</a:t>
            </a:r>
            <a:r>
              <a:rPr kumimoji="0" lang="es-MX" altLang="es-MX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s-MX" altLang="es-MX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Imagen</a:t>
            </a:r>
            <a:r>
              <a:rPr kumimoji="0" lang="es-MX" altLang="es-MX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).</a:t>
            </a:r>
            <a:endParaRPr kumimoji="0" lang="es-MX" altLang="es-MX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Contiene:</a:t>
            </a: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Solo propiedades y, a veces, validaciones básicas.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 contiene:</a:t>
            </a: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Lógica de negocio ni acceso a la base de datos.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Ejemplo en Java (Clase </a:t>
            </a:r>
            <a:r>
              <a:rPr kumimoji="0" lang="es-MX" altLang="es-MX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Imagen.java</a:t>
            </a:r>
            <a:r>
              <a:rPr kumimoji="0" lang="es-MX" altLang="es-MX" sz="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):</a:t>
            </a:r>
            <a:endParaRPr kumimoji="0" lang="es-MX" altLang="es-MX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060983D4-1CCC-2C09-C78E-7063F16419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8900" y="3825575"/>
            <a:ext cx="6439799" cy="2610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61024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469DFC-B1D0-448C-AB4E-AD973C7C10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159482"/>
          </a:xfrm>
        </p:spPr>
        <p:txBody>
          <a:bodyPr>
            <a:normAutofit/>
          </a:bodyPr>
          <a:lstStyle/>
          <a:p>
            <a:pPr algn="ctr"/>
            <a:r>
              <a:rPr lang="es-MX" dirty="0" err="1"/>
              <a:t>Repository</a:t>
            </a:r>
            <a:r>
              <a:rPr lang="es-MX" dirty="0"/>
              <a:t> (Repositorio)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4CD79A2-4E7F-4320-81B0-2063C584C6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1800" y="-5736"/>
            <a:ext cx="1800200" cy="1090461"/>
          </a:xfrm>
          <a:prstGeom prst="rect">
            <a:avLst/>
          </a:prstGeom>
        </p:spPr>
      </p:pic>
      <p:sp>
        <p:nvSpPr>
          <p:cNvPr id="6" name="Rectangle 2">
            <a:extLst>
              <a:ext uri="{FF2B5EF4-FFF2-40B4-BE49-F238E27FC236}">
                <a16:creationId xmlns:a16="http://schemas.microsoft.com/office/drawing/2014/main" id="{A96E1F76-AA46-7B36-860F-1306EE9ED64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01140" y="1778000"/>
            <a:ext cx="10972940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Concepto:</a:t>
            </a: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Actúa como una </a:t>
            </a:r>
            <a:r>
              <a:rPr kumimoji="0" lang="es-MX" altLang="es-MX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colección en memoria</a:t>
            </a: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objetos del Modelo. Es una capa de abstracción.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Propósito:</a:t>
            </a: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Encapsular la lógica necesaria para </a:t>
            </a:r>
            <a:r>
              <a:rPr kumimoji="0" lang="es-MX" altLang="es-MX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persistir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(guardar, actualizar, eliminar) 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s-MX" altLang="es-MX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recuperar</a:t>
            </a: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los datos de la fuente de almacenamiento (Base de Datos, Archivos, API).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Métodos Comunes:</a:t>
            </a: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MX" altLang="es-MX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findById</a:t>
            </a: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()</a:t>
            </a:r>
            <a:r>
              <a:rPr kumimoji="0" lang="es-MX" altLang="es-MX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s-MX" altLang="es-MX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findAll</a:t>
            </a: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()</a:t>
            </a:r>
            <a:r>
              <a:rPr kumimoji="0" lang="es-MX" altLang="es-MX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s-MX" altLang="es-MX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save</a:t>
            </a: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()</a:t>
            </a:r>
            <a:r>
              <a:rPr kumimoji="0" lang="es-MX" altLang="es-MX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s-MX" altLang="es-MX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delete</a:t>
            </a: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()</a:t>
            </a:r>
            <a:r>
              <a:rPr kumimoji="0" lang="es-MX" altLang="es-MX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s-MX" altLang="es-MX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Beneficio:</a:t>
            </a: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El </a:t>
            </a:r>
            <a:r>
              <a:rPr kumimoji="0" lang="es-MX" altLang="es-MX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Service</a:t>
            </a: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no sabe </a:t>
            </a:r>
            <a:r>
              <a:rPr kumimoji="0" lang="es-MX" altLang="es-MX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cómo</a:t>
            </a: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se guardan los datos, solo le pide al </a:t>
            </a:r>
            <a:r>
              <a:rPr kumimoji="0" lang="es-MX" altLang="es-MX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Repository</a:t>
            </a: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que lo haga.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Ejemplo en Java (Interface </a:t>
            </a:r>
            <a:r>
              <a:rPr kumimoji="0" lang="es-MX" altLang="es-MX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ImagenRepository.java</a:t>
            </a:r>
            <a:r>
              <a:rPr kumimoji="0" lang="es-MX" altLang="es-MX" sz="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):</a:t>
            </a:r>
            <a:endParaRPr kumimoji="0" lang="es-MX" altLang="es-MX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43225176-1F71-FBCE-59D6-6E3D859595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4373" y="3978617"/>
            <a:ext cx="6544588" cy="2676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38267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88E33E-47DD-4C2D-9889-D951CF331F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9813" y="237978"/>
            <a:ext cx="9905998" cy="1090461"/>
          </a:xfrm>
        </p:spPr>
        <p:txBody>
          <a:bodyPr>
            <a:normAutofit/>
          </a:bodyPr>
          <a:lstStyle/>
          <a:p>
            <a:pPr algn="ctr"/>
            <a:r>
              <a:rPr lang="es-ES" dirty="0"/>
              <a:t>La Lógica de Negocio: </a:t>
            </a:r>
            <a:r>
              <a:rPr lang="es-ES" dirty="0" err="1"/>
              <a:t>Service</a:t>
            </a: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D9E573B-DDA3-4943-BAD1-44FEEF7711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8212" y="1175543"/>
            <a:ext cx="9905999" cy="2407179"/>
          </a:xfrm>
        </p:spPr>
        <p:txBody>
          <a:bodyPr/>
          <a:lstStyle/>
          <a:p>
            <a:r>
              <a:rPr lang="es-ES" b="1" dirty="0" err="1"/>
              <a:t>Service</a:t>
            </a:r>
            <a:r>
              <a:rPr lang="es-ES" b="1" dirty="0"/>
              <a:t> (Servicio)</a:t>
            </a:r>
          </a:p>
          <a:p>
            <a:r>
              <a:rPr lang="es-ES" b="1" dirty="0"/>
              <a:t>Concepto:</a:t>
            </a:r>
            <a:r>
              <a:rPr lang="es-ES" dirty="0"/>
              <a:t> Contiene la </a:t>
            </a:r>
            <a:r>
              <a:rPr lang="es-ES" b="1" dirty="0"/>
              <a:t>Lógica de Negocio</a:t>
            </a:r>
            <a:r>
              <a:rPr lang="es-ES" dirty="0"/>
              <a:t> y orquesta la interacción con los Repositorios.</a:t>
            </a:r>
          </a:p>
          <a:p>
            <a:r>
              <a:rPr lang="es-ES" b="1" dirty="0"/>
              <a:t>Ejemplo en Java (Clase ImagenService.java):</a:t>
            </a:r>
            <a:endParaRPr lang="es-ES" dirty="0"/>
          </a:p>
          <a:p>
            <a:pPr marL="0" indent="0">
              <a:buNone/>
            </a:pPr>
            <a:endParaRPr lang="es-MX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4B7DA7C-0951-4603-89CD-CBEFB9A9DF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1800" y="-5736"/>
            <a:ext cx="1800200" cy="1090461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08BE597A-1A9A-4B77-C63E-6B74B815B4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2505" y="3257134"/>
            <a:ext cx="5179428" cy="3600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3525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7524AF-61E5-47C2-ADAD-4C344A520E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6747" y="262918"/>
            <a:ext cx="9905998" cy="1090461"/>
          </a:xfrm>
        </p:spPr>
        <p:txBody>
          <a:bodyPr>
            <a:normAutofit/>
          </a:bodyPr>
          <a:lstStyle/>
          <a:p>
            <a:pPr algn="ctr"/>
            <a:r>
              <a:rPr lang="es-MX" dirty="0"/>
              <a:t>Punto de Entrada: </a:t>
            </a:r>
            <a:r>
              <a:rPr lang="es-MX" dirty="0" err="1"/>
              <a:t>Controller</a:t>
            </a: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2BEFEFA-B797-4B77-A168-8CE7D3C087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2479" y="1084725"/>
            <a:ext cx="9905999" cy="3541714"/>
          </a:xfrm>
        </p:spPr>
        <p:txBody>
          <a:bodyPr>
            <a:normAutofit fontScale="70000" lnSpcReduction="20000"/>
          </a:bodyPr>
          <a:lstStyle/>
          <a:p>
            <a:r>
              <a:rPr lang="es-ES" b="1" dirty="0" err="1"/>
              <a:t>Controller</a:t>
            </a:r>
            <a:r>
              <a:rPr lang="es-ES" b="1" dirty="0"/>
              <a:t> (Controlador)</a:t>
            </a:r>
          </a:p>
          <a:p>
            <a:r>
              <a:rPr lang="es-ES" b="1" dirty="0"/>
              <a:t>Concepto:</a:t>
            </a:r>
            <a:r>
              <a:rPr lang="es-ES" dirty="0"/>
              <a:t> La capa que actúa como </a:t>
            </a:r>
            <a:r>
              <a:rPr lang="es-ES" b="1" dirty="0"/>
              <a:t>punto de entrada</a:t>
            </a:r>
            <a:r>
              <a:rPr lang="es-ES" dirty="0"/>
              <a:t> de la aplicación. Es el primer punto de contacto para las peticiones externas (usualmente HTTP/Web).</a:t>
            </a:r>
          </a:p>
          <a:p>
            <a:r>
              <a:rPr lang="es-ES" b="1" dirty="0"/>
              <a:t>Propósito:</a:t>
            </a:r>
            <a:endParaRPr lang="es-ES" dirty="0"/>
          </a:p>
          <a:p>
            <a:pPr lvl="1"/>
            <a:r>
              <a:rPr lang="es-ES" b="1" dirty="0"/>
              <a:t>Recibir Peticiones:</a:t>
            </a:r>
            <a:r>
              <a:rPr lang="es-ES" dirty="0"/>
              <a:t> Captura los datos de entrada (</a:t>
            </a:r>
            <a:r>
              <a:rPr lang="es-ES" dirty="0" err="1"/>
              <a:t>URLs</a:t>
            </a:r>
            <a:r>
              <a:rPr lang="es-ES" dirty="0"/>
              <a:t>, parámetros, cuerpos JSON/XML).</a:t>
            </a:r>
          </a:p>
          <a:p>
            <a:pPr lvl="1"/>
            <a:r>
              <a:rPr lang="es-ES" b="1" dirty="0"/>
              <a:t>Delegar a </a:t>
            </a:r>
            <a:r>
              <a:rPr lang="es-ES" b="1" dirty="0" err="1"/>
              <a:t>Service</a:t>
            </a:r>
            <a:r>
              <a:rPr lang="es-ES" b="1" dirty="0"/>
              <a:t>:</a:t>
            </a:r>
            <a:r>
              <a:rPr lang="es-ES" dirty="0"/>
              <a:t> </a:t>
            </a:r>
            <a:r>
              <a:rPr lang="es-ES" b="1" dirty="0"/>
              <a:t>Nunca contiene lógica de negocio</a:t>
            </a:r>
            <a:r>
              <a:rPr lang="es-ES" dirty="0"/>
              <a:t>. Su única tarea es recibir la petición, llamar al </a:t>
            </a:r>
            <a:r>
              <a:rPr lang="es-ES" b="1" dirty="0" err="1"/>
              <a:t>Service</a:t>
            </a:r>
            <a:r>
              <a:rPr lang="es-ES" dirty="0"/>
              <a:t> apropiado y devolver una respuesta.</a:t>
            </a:r>
          </a:p>
          <a:p>
            <a:pPr lvl="1"/>
            <a:r>
              <a:rPr lang="es-ES" b="1" dirty="0"/>
              <a:t>Manejar Respuestas:</a:t>
            </a:r>
            <a:r>
              <a:rPr lang="es-ES" dirty="0"/>
              <a:t> Formatea los datos devueltos por el </a:t>
            </a:r>
            <a:r>
              <a:rPr lang="es-ES" dirty="0" err="1"/>
              <a:t>Service</a:t>
            </a:r>
            <a:r>
              <a:rPr lang="es-ES" dirty="0"/>
              <a:t> en el formato esperado por el cliente (</a:t>
            </a:r>
            <a:r>
              <a:rPr lang="es-ES" dirty="0" err="1"/>
              <a:t>Ej</a:t>
            </a:r>
            <a:r>
              <a:rPr lang="es-ES" dirty="0"/>
              <a:t>: un código de estado HTTP 200 y un cuerpo JSON).</a:t>
            </a:r>
          </a:p>
          <a:p>
            <a:r>
              <a:rPr lang="es-ES" b="1" dirty="0"/>
              <a:t>Principio Clave:</a:t>
            </a:r>
            <a:r>
              <a:rPr lang="es-ES" dirty="0"/>
              <a:t> Mantenerlo "delgado" (</a:t>
            </a:r>
            <a:r>
              <a:rPr lang="es-ES" dirty="0" err="1"/>
              <a:t>Thin</a:t>
            </a:r>
            <a:r>
              <a:rPr lang="es-ES" dirty="0"/>
              <a:t> </a:t>
            </a:r>
            <a:r>
              <a:rPr lang="es-ES" dirty="0" err="1"/>
              <a:t>Controller</a:t>
            </a:r>
            <a:r>
              <a:rPr lang="es-ES" dirty="0"/>
              <a:t>).</a:t>
            </a:r>
          </a:p>
          <a:p>
            <a:r>
              <a:rPr lang="es-ES" b="1" dirty="0"/>
              <a:t>Ejemplo en Java (Usando Spring/</a:t>
            </a:r>
            <a:r>
              <a:rPr lang="es-ES" b="1" dirty="0" err="1"/>
              <a:t>Jakarta</a:t>
            </a:r>
            <a:r>
              <a:rPr lang="es-ES" b="1" dirty="0"/>
              <a:t> EE):</a:t>
            </a:r>
            <a:endParaRPr lang="es-ES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F1358DE1-79BA-452F-ABB1-CCD0C7B112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1800" y="-5736"/>
            <a:ext cx="1800200" cy="1090461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B77799BB-A7BF-C567-0FB4-4B5AA50917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8142" y="3564467"/>
            <a:ext cx="3947470" cy="3207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52328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9C5F64-7499-4FA0-8D06-C57FD438A8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181882"/>
            <a:ext cx="9905998" cy="990149"/>
          </a:xfrm>
        </p:spPr>
        <p:txBody>
          <a:bodyPr/>
          <a:lstStyle/>
          <a:p>
            <a:pPr algn="ctr"/>
            <a:r>
              <a:rPr lang="es-MX" dirty="0"/>
              <a:t>Patrones de Diseño: </a:t>
            </a:r>
            <a:r>
              <a:rPr lang="es-MX" dirty="0" err="1"/>
              <a:t>Singleton</a:t>
            </a:r>
            <a:endParaRPr lang="es-MX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0E54877-F67C-4BB0-8066-E29E471821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1800" y="-5736"/>
            <a:ext cx="1800200" cy="1090461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134044C3-9C3D-6CF1-5FE3-FCD4F766BE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1737" y="3115734"/>
            <a:ext cx="3922992" cy="3659630"/>
          </a:xfrm>
          <a:prstGeom prst="rect">
            <a:avLst/>
          </a:prstGeom>
        </p:spPr>
      </p:pic>
      <p:sp>
        <p:nvSpPr>
          <p:cNvPr id="7" name="Rectangle 1">
            <a:extLst>
              <a:ext uri="{FF2B5EF4-FFF2-40B4-BE49-F238E27FC236}">
                <a16:creationId xmlns:a16="http://schemas.microsoft.com/office/drawing/2014/main" id="{B9BE2072-5231-4113-1CE7-67366595E2A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65680" y="813016"/>
            <a:ext cx="12357870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Concepto:</a:t>
            </a: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Es la aplicación del </a:t>
            </a:r>
            <a:r>
              <a:rPr kumimoji="0" lang="es-MX" altLang="es-MX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Patrón de Diseño </a:t>
            </a:r>
            <a:r>
              <a:rPr kumimoji="0" lang="es-MX" altLang="es-MX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Singleton</a:t>
            </a: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un objeto de Conexión a Base de Datos.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Patrón </a:t>
            </a:r>
            <a:r>
              <a:rPr kumimoji="0" lang="es-MX" altLang="es-MX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Singleton</a:t>
            </a:r>
            <a:r>
              <a:rPr kumimoji="0" lang="es-MX" altLang="es-MX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Garantiza que una clase tenga </a:t>
            </a:r>
            <a:r>
              <a:rPr kumimoji="0" lang="es-MX" altLang="es-MX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una sola instancia</a:t>
            </a: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y proporciona un punto de acceso global a ella.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Propósito en Conexiones:</a:t>
            </a:r>
            <a:endParaRPr kumimoji="0" lang="es-MX" altLang="es-MX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s-MX" altLang="es-MX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Ahorro de Recursos:</a:t>
            </a: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Abrir y cerrar conexiones es costoso. Se reutiliza la misma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conexión/Pool de Conexiones.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s-MX" altLang="es-MX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Consistencia:</a:t>
            </a: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Todas las partes de la aplicación usan el mismo recurso.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s-MX" altLang="es-MX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Precaución:</a:t>
            </a: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Se debe manejar con cuidado para asegurar que sea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s-MX" altLang="es-MX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Thread-Safe</a:t>
            </a: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(seguro en entornos concurrentes).</a:t>
            </a:r>
          </a:p>
        </p:txBody>
      </p:sp>
    </p:spTree>
    <p:extLst>
      <p:ext uri="{BB962C8B-B14F-4D97-AF65-F5344CB8AC3E}">
        <p14:creationId xmlns:p14="http://schemas.microsoft.com/office/powerpoint/2010/main" val="17014005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001EDD-5AF5-6960-3F11-A4EFB58732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0291" y="262467"/>
            <a:ext cx="9137120" cy="863600"/>
          </a:xfrm>
        </p:spPr>
        <p:txBody>
          <a:bodyPr/>
          <a:lstStyle/>
          <a:p>
            <a:r>
              <a:rPr lang="es-ES" dirty="0"/>
              <a:t>Patrones de Diseño:  Factory</a:t>
            </a:r>
            <a:endParaRPr lang="es-MX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F31F512-0188-90FF-9A53-8D95C063F7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4501" y="3109655"/>
            <a:ext cx="6878010" cy="3686689"/>
          </a:xfrm>
          <a:prstGeom prst="rect">
            <a:avLst/>
          </a:prstGeom>
        </p:spPr>
      </p:pic>
      <p:sp>
        <p:nvSpPr>
          <p:cNvPr id="7" name="Rectangle 2">
            <a:extLst>
              <a:ext uri="{FF2B5EF4-FFF2-40B4-BE49-F238E27FC236}">
                <a16:creationId xmlns:a16="http://schemas.microsoft.com/office/drawing/2014/main" id="{C64C5434-2184-A430-2908-D19B6FE104D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70545" y="987948"/>
            <a:ext cx="11050910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Concepto:</a:t>
            </a: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MX" altLang="es-MX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Patrón de Creación</a:t>
            </a: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que proporciona una interfaz para crear objetos en una superclase,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permitiendo que las subclases alteren el tipo de objetos que se crearán.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Propósito:</a:t>
            </a:r>
            <a:endParaRPr kumimoji="0" lang="es-MX" altLang="es-MX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s-MX" altLang="es-MX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Delegar la Creación:</a:t>
            </a: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Ocultar la lógica de instanciación del cliente.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s-MX" altLang="es-MX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Inyección de Dependencias:</a:t>
            </a: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Permite cambiar la implementación de un objeto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</a:t>
            </a:r>
            <a:r>
              <a:rPr kumimoji="0" lang="es-MX" altLang="es-MX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Ej</a:t>
            </a: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cambiar de una base de datos a otra) sin modificar el código que lo utiliza.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Ejemplo:</a:t>
            </a: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Un </a:t>
            </a:r>
            <a:r>
              <a:rPr kumimoji="0" lang="es-MX" altLang="es-MX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ConexionFactory</a:t>
            </a:r>
            <a:r>
              <a:rPr kumimoji="0" lang="es-MX" altLang="es-MX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que devuelve una </a:t>
            </a:r>
            <a:r>
              <a:rPr kumimoji="0" lang="es-MX" altLang="es-MX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ConexionOracle</a:t>
            </a:r>
            <a:r>
              <a:rPr kumimoji="0" lang="es-MX" altLang="es-MX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o una </a:t>
            </a:r>
            <a:r>
              <a:rPr kumimoji="0" lang="es-MX" altLang="es-MX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ConexionMySQL</a:t>
            </a:r>
            <a:r>
              <a:rPr kumimoji="0" lang="es-MX" altLang="es-MX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basándose en una configuración.</a:t>
            </a:r>
            <a:endParaRPr kumimoji="0" lang="es-MX" altLang="es-MX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76045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3033D2-A571-6D51-5BB3-DA1F282DE0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3947" y="327514"/>
            <a:ext cx="9905998" cy="1478570"/>
          </a:xfrm>
        </p:spPr>
        <p:txBody>
          <a:bodyPr/>
          <a:lstStyle/>
          <a:p>
            <a:r>
              <a:rPr lang="es-MX" dirty="0"/>
              <a:t>Organización y Estructura: </a:t>
            </a:r>
            <a:r>
              <a:rPr lang="es-MX" dirty="0" err="1"/>
              <a:t>Package</a:t>
            </a: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360DD94-E36B-1DA1-50D1-253BED7298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s-ES" b="1" dirty="0" err="1"/>
              <a:t>Package</a:t>
            </a:r>
            <a:r>
              <a:rPr lang="es-ES" b="1" dirty="0"/>
              <a:t> (Paquete/Módulo)</a:t>
            </a:r>
          </a:p>
          <a:p>
            <a:r>
              <a:rPr lang="es-ES" b="1" dirty="0"/>
              <a:t>Concepto:</a:t>
            </a:r>
            <a:r>
              <a:rPr lang="es-ES" dirty="0"/>
              <a:t> Mecanismo para </a:t>
            </a:r>
            <a:r>
              <a:rPr lang="es-ES" b="1" dirty="0"/>
              <a:t>organizar</a:t>
            </a:r>
            <a:r>
              <a:rPr lang="es-ES" dirty="0"/>
              <a:t> clases e interfaces relacionadas en un espacio de nombres lógico.</a:t>
            </a:r>
          </a:p>
          <a:p>
            <a:r>
              <a:rPr lang="es-ES" b="1" dirty="0"/>
              <a:t>Propósito:</a:t>
            </a:r>
            <a:endParaRPr lang="es-ES" dirty="0"/>
          </a:p>
          <a:p>
            <a:pPr lvl="1"/>
            <a:r>
              <a:rPr lang="es-ES" b="1" dirty="0"/>
              <a:t>Modularidad:</a:t>
            </a:r>
            <a:r>
              <a:rPr lang="es-ES" dirty="0"/>
              <a:t> Agrupar funcionalidades relacionadas (</a:t>
            </a:r>
            <a:r>
              <a:rPr lang="es-ES" dirty="0" err="1"/>
              <a:t>Ej</a:t>
            </a:r>
            <a:r>
              <a:rPr lang="es-ES" dirty="0"/>
              <a:t>: </a:t>
            </a:r>
            <a:r>
              <a:rPr lang="es-ES" dirty="0" err="1"/>
              <a:t>com.aplicacion.clientes</a:t>
            </a:r>
            <a:r>
              <a:rPr lang="es-ES" dirty="0"/>
              <a:t>, </a:t>
            </a:r>
            <a:r>
              <a:rPr lang="es-ES" dirty="0" err="1"/>
              <a:t>com.aplicacion.inventario</a:t>
            </a:r>
            <a:r>
              <a:rPr lang="es-ES" dirty="0"/>
              <a:t>).</a:t>
            </a:r>
          </a:p>
          <a:p>
            <a:pPr lvl="1"/>
            <a:r>
              <a:rPr lang="es-ES" b="1" dirty="0"/>
              <a:t>Control de Acceso:</a:t>
            </a:r>
            <a:r>
              <a:rPr lang="es-ES" dirty="0"/>
              <a:t> Definir la visibilidad de las clases.</a:t>
            </a:r>
          </a:p>
          <a:p>
            <a:pPr lvl="1"/>
            <a:r>
              <a:rPr lang="es-ES" b="1" dirty="0"/>
              <a:t>Evitar Colisiones:</a:t>
            </a:r>
            <a:r>
              <a:rPr lang="es-ES" dirty="0"/>
              <a:t> Permite que dos clases tengan el mismo nombre si están en diferentes paquetes.</a:t>
            </a:r>
          </a:p>
          <a:p>
            <a:r>
              <a:rPr lang="es-ES" b="1" dirty="0"/>
              <a:t>Buena Práctica:</a:t>
            </a:r>
            <a:r>
              <a:rPr lang="es-ES" dirty="0"/>
              <a:t> Organizar la aplicación por capas o por funcionalidad de negocio.</a:t>
            </a:r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39640356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o">
  <a:themeElements>
    <a:clrScheme name="Circuito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o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o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Circuito</Template>
  <TotalTime>21</TotalTime>
  <Words>679</Words>
  <Application>Microsoft Office PowerPoint</Application>
  <PresentationFormat>Panorámica</PresentationFormat>
  <Paragraphs>57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3" baseType="lpstr">
      <vt:lpstr>Arial</vt:lpstr>
      <vt:lpstr>Arial Unicode MS</vt:lpstr>
      <vt:lpstr>Tw Cen MT</vt:lpstr>
      <vt:lpstr>Circuito</vt:lpstr>
      <vt:lpstr>Conceptos de Arquitectura y Diseño de Software</vt:lpstr>
      <vt:lpstr>Modelos de Datos, Abstracción y Patrones de Diseño.</vt:lpstr>
      <vt:lpstr>El Corazón de los Datos: Model y Repository 1. Model (Modelo) </vt:lpstr>
      <vt:lpstr>Repository (Repositorio)</vt:lpstr>
      <vt:lpstr>La Lógica de Negocio: Service</vt:lpstr>
      <vt:lpstr>Punto de Entrada: Controller</vt:lpstr>
      <vt:lpstr>Patrones de Diseño: Singleton</vt:lpstr>
      <vt:lpstr>Patrones de Diseño:  Factory</vt:lpstr>
      <vt:lpstr>Organización y Estructura: Package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Bucles</dc:title>
  <dc:creator>Carlos Uriel de Jesus Sanchez Gonzalez</dc:creator>
  <cp:lastModifiedBy>Raul Calvario</cp:lastModifiedBy>
  <cp:revision>2</cp:revision>
  <dcterms:created xsi:type="dcterms:W3CDTF">2025-10-01T05:48:07Z</dcterms:created>
  <dcterms:modified xsi:type="dcterms:W3CDTF">2025-11-07T08:59:09Z</dcterms:modified>
</cp:coreProperties>
</file>